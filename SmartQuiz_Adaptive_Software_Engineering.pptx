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2723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535C91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840480" cy="3840480"/>
          </a:xfrm>
          <a:prstGeom prst="ellipse">
            <a:avLst/>
          </a:prstGeom>
          <a:solidFill>
            <a:srgbClr val="00C2A8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556182"/>
            <a:ext cx="32465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b="1" kern="0" spc="200" dirty="0">
              <a:solidFill>
                <a:srgbClr val="00C2A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 Jain-2420030789</a:t>
            </a:r>
          </a:p>
          <a:p>
            <a:pPr marL="0" indent="0">
              <a:buNone/>
            </a:pPr>
            <a:r>
              <a:rPr lang="en-US" sz="13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Reddy-2420030768</a:t>
            </a:r>
          </a:p>
          <a:p>
            <a:pPr marL="0" indent="0">
              <a:buNone/>
            </a:pPr>
            <a:r>
              <a:rPr lang="en-US" sz="13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Thakur Varun-2420030039  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SmartQuiz</a:t>
            </a:r>
            <a:endParaRPr lang="en-US" sz="6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9715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Adaptive Quiz Generator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0642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929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quiz platform that uses Generative AI, NLP, and Machine Learning to create and adapt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929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in real time to each learner's ability.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37942"/>
            <a:ext cx="2258568" cy="347472"/>
          </a:xfrm>
          <a:prstGeom prst="roundRect">
            <a:avLst>
              <a:gd name="adj" fmla="val 50000"/>
            </a:avLst>
          </a:prstGeom>
          <a:solidFill>
            <a:srgbClr val="2A2870"/>
          </a:solidFill>
          <a:ln w="9525">
            <a:solidFill>
              <a:srgbClr val="535C9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928798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90088" y="2944533"/>
            <a:ext cx="1682496" cy="347472"/>
          </a:xfrm>
          <a:prstGeom prst="roundRect">
            <a:avLst>
              <a:gd name="adj" fmla="val 50000"/>
            </a:avLst>
          </a:prstGeom>
          <a:solidFill>
            <a:srgbClr val="2A2870"/>
          </a:solidFill>
          <a:ln w="9525">
            <a:solidFill>
              <a:srgbClr val="535C9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 txBox="1"/>
          <p:nvPr/>
        </p:nvSpPr>
        <p:spPr>
          <a:xfrm>
            <a:off x="2976372" y="2958619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9844" y="2955036"/>
            <a:ext cx="1435608" cy="347472"/>
          </a:xfrm>
          <a:prstGeom prst="roundRect">
            <a:avLst>
              <a:gd name="adj" fmla="val 50000"/>
            </a:avLst>
          </a:prstGeom>
          <a:solidFill>
            <a:srgbClr val="2A2870"/>
          </a:solidFill>
          <a:ln w="9525">
            <a:solidFill>
              <a:srgbClr val="535C9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 txBox="1"/>
          <p:nvPr/>
        </p:nvSpPr>
        <p:spPr>
          <a:xfrm>
            <a:off x="4736592" y="2955036"/>
            <a:ext cx="1435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87084" y="2955036"/>
            <a:ext cx="612648" cy="347472"/>
          </a:xfrm>
          <a:prstGeom prst="roundRect">
            <a:avLst>
              <a:gd name="adj" fmla="val 50000"/>
            </a:avLst>
          </a:prstGeom>
          <a:solidFill>
            <a:srgbClr val="2A2870"/>
          </a:solidFill>
          <a:ln w="9525">
            <a:solidFill>
              <a:srgbClr val="535C9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 txBox="1"/>
          <p:nvPr/>
        </p:nvSpPr>
        <p:spPr>
          <a:xfrm>
            <a:off x="6387084" y="2955036"/>
            <a:ext cx="612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5080" y="2928798"/>
            <a:ext cx="859536" cy="347472"/>
          </a:xfrm>
          <a:prstGeom prst="roundRect">
            <a:avLst>
              <a:gd name="adj" fmla="val 50000"/>
            </a:avLst>
          </a:prstGeom>
          <a:solidFill>
            <a:srgbClr val="2A2870"/>
          </a:solidFill>
          <a:ln w="9525">
            <a:solidFill>
              <a:srgbClr val="535C9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 txBox="1"/>
          <p:nvPr/>
        </p:nvSpPr>
        <p:spPr>
          <a:xfrm>
            <a:off x="7135080" y="2954129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86056" y="2947498"/>
            <a:ext cx="1024128" cy="347472"/>
          </a:xfrm>
          <a:prstGeom prst="roundRect">
            <a:avLst>
              <a:gd name="adj" fmla="val 50000"/>
            </a:avLst>
          </a:prstGeom>
          <a:solidFill>
            <a:srgbClr val="2A2870"/>
          </a:solidFill>
          <a:ln w="9525">
            <a:solidFill>
              <a:srgbClr val="535C9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 txBox="1"/>
          <p:nvPr/>
        </p:nvSpPr>
        <p:spPr>
          <a:xfrm>
            <a:off x="8086056" y="2945273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778366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2A2870"/>
          </a:solidFill>
          <a:ln w="9525">
            <a:solidFill>
              <a:srgbClr val="535C9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7764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Flask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0028" y="3811111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2A2870"/>
          </a:solidFill>
          <a:ln w="9525">
            <a:solidFill>
              <a:srgbClr val="535C9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 txBox="1"/>
          <p:nvPr/>
        </p:nvSpPr>
        <p:spPr>
          <a:xfrm>
            <a:off x="2510028" y="3811111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35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Traditional Quizzes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101600" dist="38100" dir="5400000" algn="bl" rotWithShape="0">
              <a:srgbClr val="4444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1B1A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56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Questions For Everyone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quizzes give every learner an identical set of questions regardless of ability, so strong students are bored and struggling students are overwhelmed.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101600" dist="38100" dir="5400000" algn="bl" rotWithShape="0">
              <a:srgbClr val="4444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74520"/>
            <a:ext cx="502920" cy="502920"/>
          </a:xfrm>
          <a:prstGeom prst="ellipse">
            <a:avLst/>
          </a:prstGeom>
          <a:solidFill>
            <a:srgbClr val="1B1A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856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Question Authoring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4688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spend hours writing, reviewing, and updating question banks by hand for every new topic.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101600" dist="38100" dir="5400000" algn="bl" rotWithShape="0">
              <a:srgbClr val="4444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1B1A5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42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Adjustment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548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stays fixed for the whole quiz — nothing responds to how a learner is actually performing as they go.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101600" dist="38100" dir="5400000" algn="bl" rotWithShape="0">
              <a:srgbClr val="44445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160520"/>
            <a:ext cx="502920" cy="502920"/>
          </a:xfrm>
          <a:prstGeom prst="ellipse">
            <a:avLst/>
          </a:prstGeom>
          <a:solidFill>
            <a:srgbClr val="1B1A5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142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Feedback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7548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get a raw score at the end, with little insight into concepts they've mastered or still need to work on.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35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SmartQuiz Sets Out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88900" dist="25400" dir="5400000" algn="bl" rotWithShape="0">
              <a:srgbClr val="44445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Questions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7180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Generative AI to create quiz questions directly from a topic or source content.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88900" dist="25400" dir="5400000" algn="bl" rotWithShape="0">
              <a:srgbClr val="44445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1856232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81144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56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251460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Content &amp; Answers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297180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NLP to parse study material and evaluate free-text or short-answer responses.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88900" dist="25400" dir="5400000" algn="bl" rotWithShape="0">
              <a:srgbClr val="44445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856232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7616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56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51460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Difficulty Live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97180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re-estimate learner ability and select the next question's difficulty in real time.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47822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88900" dist="25400" dir="5400000" algn="bl" rotWithShape="0">
              <a:srgbClr val="44445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87952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169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156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8463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Insight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30352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response data into analytics that show strengths, gaps, and progress over time.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25112" y="393192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88900" dist="25400" dir="5400000" algn="bl" rotWithShape="0">
              <a:srgbClr val="44445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81144" y="4187952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81144" y="4169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156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48463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Simple To Use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530352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clean React.js interface so students and instructors can focus on learning, not tooling.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01584" y="393192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88900" dist="25400" dir="5400000" algn="bl" rotWithShape="0">
              <a:srgbClr val="44445A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7616" y="4187952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57616" y="4169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1560" dirty="0"/>
          </a:p>
        </p:txBody>
      </p:sp>
      <p:sp>
        <p:nvSpPr>
          <p:cNvPr id="32" name="Text 30"/>
          <p:cNvSpPr txBox="1"/>
          <p:nvPr/>
        </p:nvSpPr>
        <p:spPr>
          <a:xfrm>
            <a:off x="8357616" y="484632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Reliably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57616" y="530352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FastAPI/Flask and MySQL so the platform can grow across subjects and user loads.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35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Systems vs. SmartQuiz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ECEB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35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Quiz Tools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63640" y="160020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1B1A55"/>
          </a:solidFill>
          <a:ln/>
          <a:effectLst>
            <a:outerShdw blurRad="127000" dist="38100" dir="5400000" algn="bl" rotWithShape="0">
              <a:srgbClr val="1B1A55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0" y="18288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SmartQuiz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774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question bank, manually written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3774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generated on demand by Generative AI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0632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difficulty for every learner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0632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adapts per learner using an ML model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7490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understanding of answer meaning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7490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evaluates and interprets responses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4348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End-of-quiz score only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4348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Ongoing, data-driven performance analytics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1206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Rigid, hard-coded logic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51206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API-based architecture (FastAPI/Flask)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35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1691640"/>
            <a:ext cx="9601200" cy="960120"/>
          </a:xfrm>
          <a:prstGeom prst="roundRect">
            <a:avLst>
              <a:gd name="adj" fmla="val 7619"/>
            </a:avLst>
          </a:prstGeom>
          <a:solidFill>
            <a:srgbClr val="00C2A8"/>
          </a:solidFill>
          <a:ln/>
          <a:effectLst>
            <a:outerShdw blurRad="76200" dist="25400" dir="5400000" algn="bl" rotWithShape="0">
              <a:srgbClr val="1B1A55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645920" y="1801368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167128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— quiz UI, dashboards, analytics views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rot="10800000">
            <a:off x="5971032" y="2670048"/>
            <a:ext cx="219456" cy="164592"/>
          </a:xfrm>
          <a:prstGeom prst="triangle">
            <a:avLst/>
          </a:prstGeom>
          <a:solidFill>
            <a:srgbClr val="7A7A90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852928"/>
            <a:ext cx="9601200" cy="960120"/>
          </a:xfrm>
          <a:prstGeom prst="roundRect">
            <a:avLst>
              <a:gd name="adj" fmla="val 7619"/>
            </a:avLst>
          </a:prstGeom>
          <a:solidFill>
            <a:srgbClr val="535C91"/>
          </a:solidFill>
          <a:ln/>
          <a:effectLst>
            <a:outerShdw blurRad="76200" dist="25400" dir="5400000" algn="bl" rotWithShape="0">
              <a:srgbClr val="1B1A55">
                <a:alpha val="2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645920" y="296265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API Layer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3328416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Flask — REST endpoints, auth, request orchestration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 rot="10800000">
            <a:off x="5971032" y="3831336"/>
            <a:ext cx="219456" cy="164592"/>
          </a:xfrm>
          <a:prstGeom prst="triangle">
            <a:avLst/>
          </a:prstGeom>
          <a:solidFill>
            <a:srgbClr val="7A7A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280160" y="4014216"/>
            <a:ext cx="9601200" cy="960120"/>
          </a:xfrm>
          <a:prstGeom prst="roundRect">
            <a:avLst>
              <a:gd name="adj" fmla="val 7619"/>
            </a:avLst>
          </a:prstGeom>
          <a:solidFill>
            <a:srgbClr val="1B1A55"/>
          </a:solidFill>
          <a:ln/>
          <a:effectLst>
            <a:outerShdw blurRad="76200" dist="25400" dir="5400000" algn="bl" rotWithShape="0">
              <a:srgbClr val="1B1A55">
                <a:alpha val="2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645920" y="4123944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4489704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question builder · NLP evaluator · Adaptive difficulty model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rot="10800000">
            <a:off x="5971032" y="4992624"/>
            <a:ext cx="219456" cy="164592"/>
          </a:xfrm>
          <a:prstGeom prst="triangle">
            <a:avLst/>
          </a:prstGeom>
          <a:solidFill>
            <a:srgbClr val="7A7A90"/>
          </a:solidFill>
          <a:ln/>
        </p:spPr>
      </p:sp>
      <p:sp>
        <p:nvSpPr>
          <p:cNvPr id="16" name="Shape 14"/>
          <p:cNvSpPr/>
          <p:nvPr/>
        </p:nvSpPr>
        <p:spPr>
          <a:xfrm>
            <a:off x="1280160" y="5175504"/>
            <a:ext cx="9601200" cy="960120"/>
          </a:xfrm>
          <a:prstGeom prst="roundRect">
            <a:avLst>
              <a:gd name="adj" fmla="val 7619"/>
            </a:avLst>
          </a:prstGeom>
          <a:solidFill>
            <a:srgbClr val="9290C3"/>
          </a:solidFill>
          <a:ln/>
          <a:effectLst>
            <a:outerShdw blurRad="76200" dist="25400" dir="5400000" algn="bl" rotWithShape="0">
              <a:srgbClr val="1B1A55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645920" y="52852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565099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users, questions, responses, performance history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35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AI &amp; ML Components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1B1A55"/>
          </a:solidFill>
          <a:ln/>
          <a:effectLst>
            <a:outerShdw blurRad="88900" dist="38100" dir="5400000" algn="bl" rotWithShape="0">
              <a:srgbClr val="1B1A5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01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82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— Question Builder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66160"/>
            <a:ext cx="2880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topic, syllabus section, or source text, a generative model drafts original questions, plausible distractors, and model answers automatically.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535C91"/>
          </a:solidFill>
          <a:ln/>
          <a:effectLst>
            <a:outerShdw blurRad="88900" dist="38100" dir="5400000" algn="bl" rotWithShape="0">
              <a:srgbClr val="1B1A55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920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1901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82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7889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3566160"/>
            <a:ext cx="2880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source material into concepts, and evaluates short-answer or free-text responses for semantic correctness — not just exact string matches.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00C2A8"/>
          </a:solidFill>
          <a:ln/>
          <a:effectLst>
            <a:outerShdw blurRad="88900" dist="38100" dir="5400000" algn="bl" rotWithShape="0">
              <a:srgbClr val="1B1A55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21624" y="1920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21624" y="1901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820" dirty="0"/>
          </a:p>
        </p:txBody>
      </p:sp>
      <p:sp>
        <p:nvSpPr>
          <p:cNvPr id="17" name="Text 15"/>
          <p:cNvSpPr txBox="1"/>
          <p:nvPr/>
        </p:nvSpPr>
        <p:spPr>
          <a:xfrm>
            <a:off x="8421624" y="27889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Difficulty Model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21624" y="3566160"/>
            <a:ext cx="2880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model tracks correctness and response time to continuously re-estimate learner ability and pick the next question's difficulty.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27266E"/>
          </a:solidFill>
          <a:ln w="12700">
            <a:solidFill>
              <a:srgbClr val="535C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96596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947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69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697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1089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AI/ML pipelines &amp; backend logic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27266E"/>
          </a:solidFill>
          <a:ln w="12700">
            <a:solidFill>
              <a:srgbClr val="535C9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96596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947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69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697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Libraries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1089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style models for adaptive scoring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66760" y="16916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27266E"/>
          </a:solidFill>
          <a:ln w="12700">
            <a:solidFill>
              <a:srgbClr val="535C9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41080" y="196596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41080" y="1947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69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2697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Toolkit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31089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parsing &amp; semantic answer evaluation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411480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27266E"/>
          </a:solidFill>
          <a:ln w="12700">
            <a:solidFill>
              <a:srgbClr val="535C9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438912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560" y="4370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</a:t>
            </a:r>
            <a:endParaRPr lang="en-US" sz="169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5120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5321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frontend for quizzes &amp; dashboards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411480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27266E"/>
          </a:solidFill>
          <a:ln w="12700">
            <a:solidFill>
              <a:srgbClr val="535C9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438912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46320" y="4370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69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5120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Flask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55321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 connecting frontend to AI engine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66760" y="411480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27266E"/>
          </a:solidFill>
          <a:ln w="12700">
            <a:solidFill>
              <a:srgbClr val="535C9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41080" y="438912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41080" y="4370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690" dirty="0"/>
          </a:p>
        </p:txBody>
      </p:sp>
      <p:sp>
        <p:nvSpPr>
          <p:cNvPr id="32" name="Text 30"/>
          <p:cNvSpPr txBox="1"/>
          <p:nvPr/>
        </p:nvSpPr>
        <p:spPr>
          <a:xfrm>
            <a:off x="8641080" y="5120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641080" y="55321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storage for users, questions &amp; results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35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Adaptive Difficulty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51914" cy="2743200"/>
          </a:xfrm>
          <a:prstGeom prst="roundRect">
            <a:avLst>
              <a:gd name="adj" fmla="val 3565"/>
            </a:avLst>
          </a:prstGeom>
          <a:solidFill>
            <a:srgbClr val="1B1A55"/>
          </a:solidFill>
          <a:ln/>
          <a:effectLst>
            <a:outerShdw blurRad="76200" dist="25400" dir="5400000" algn="bl" rotWithShape="0">
              <a:srgbClr val="1B1A55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71800"/>
            <a:ext cx="17775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Submitted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11880"/>
            <a:ext cx="177759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responds to the current question.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rot="5400000">
            <a:off x="2618842" y="3465576"/>
            <a:ext cx="201168" cy="201168"/>
          </a:xfrm>
          <a:prstGeom prst="triangle">
            <a:avLst/>
          </a:prstGeom>
          <a:solidFill>
            <a:srgbClr val="7A7A90"/>
          </a:solidFill>
          <a:ln/>
        </p:spPr>
      </p:sp>
      <p:sp>
        <p:nvSpPr>
          <p:cNvPr id="9" name="Shape 7"/>
          <p:cNvSpPr/>
          <p:nvPr/>
        </p:nvSpPr>
        <p:spPr>
          <a:xfrm>
            <a:off x="2801722" y="2194560"/>
            <a:ext cx="2051914" cy="2743200"/>
          </a:xfrm>
          <a:prstGeom prst="roundRect">
            <a:avLst>
              <a:gd name="adj" fmla="val 3565"/>
            </a:avLst>
          </a:prstGeom>
          <a:solidFill>
            <a:srgbClr val="00C2A8"/>
          </a:solidFill>
          <a:ln/>
          <a:effectLst>
            <a:outerShdw blurRad="76200" dist="25400" dir="5400000" algn="bl" rotWithShape="0">
              <a:srgbClr val="1B1A55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38882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938882" y="2971800"/>
            <a:ext cx="17775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Scored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938882" y="3611880"/>
            <a:ext cx="177759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and response time are captured.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871923" y="3465576"/>
            <a:ext cx="201168" cy="201168"/>
          </a:xfrm>
          <a:prstGeom prst="triangle">
            <a:avLst/>
          </a:prstGeom>
          <a:solidFill>
            <a:srgbClr val="7A7A90"/>
          </a:solidFill>
          <a:ln/>
        </p:spPr>
      </p:sp>
      <p:sp>
        <p:nvSpPr>
          <p:cNvPr id="14" name="Shape 12"/>
          <p:cNvSpPr/>
          <p:nvPr/>
        </p:nvSpPr>
        <p:spPr>
          <a:xfrm>
            <a:off x="5054803" y="2194560"/>
            <a:ext cx="2051914" cy="2743200"/>
          </a:xfrm>
          <a:prstGeom prst="roundRect">
            <a:avLst>
              <a:gd name="adj" fmla="val 3565"/>
            </a:avLst>
          </a:prstGeom>
          <a:solidFill>
            <a:srgbClr val="1B1A55"/>
          </a:solidFill>
          <a:ln/>
          <a:effectLst>
            <a:outerShdw blurRad="76200" dist="25400" dir="5400000" algn="bl" rotWithShape="0">
              <a:srgbClr val="1B1A55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191963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191963" y="2971800"/>
            <a:ext cx="17775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Re-Estimated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191963" y="3611880"/>
            <a:ext cx="177759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model updates its estimate of learner skill.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125005" y="3465576"/>
            <a:ext cx="201168" cy="201168"/>
          </a:xfrm>
          <a:prstGeom prst="triangle">
            <a:avLst/>
          </a:prstGeom>
          <a:solidFill>
            <a:srgbClr val="7A7A90"/>
          </a:solidFill>
          <a:ln/>
        </p:spPr>
      </p:sp>
      <p:sp>
        <p:nvSpPr>
          <p:cNvPr id="19" name="Shape 17"/>
          <p:cNvSpPr/>
          <p:nvPr/>
        </p:nvSpPr>
        <p:spPr>
          <a:xfrm>
            <a:off x="7307885" y="2194560"/>
            <a:ext cx="2051914" cy="2743200"/>
          </a:xfrm>
          <a:prstGeom prst="roundRect">
            <a:avLst>
              <a:gd name="adj" fmla="val 3565"/>
            </a:avLst>
          </a:prstGeom>
          <a:solidFill>
            <a:srgbClr val="00C2A8"/>
          </a:solidFill>
          <a:ln/>
          <a:effectLst>
            <a:outerShdw blurRad="76200" dist="25400" dir="5400000" algn="bl" rotWithShape="0">
              <a:srgbClr val="1B1A55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445045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445045" y="2971800"/>
            <a:ext cx="17775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Question Selected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445045" y="3611880"/>
            <a:ext cx="177759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is tuned up or down to match ability.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9378086" y="3465576"/>
            <a:ext cx="201168" cy="201168"/>
          </a:xfrm>
          <a:prstGeom prst="triangle">
            <a:avLst/>
          </a:prstGeom>
          <a:solidFill>
            <a:srgbClr val="7A7A90"/>
          </a:solidFill>
          <a:ln/>
        </p:spPr>
      </p:sp>
      <p:sp>
        <p:nvSpPr>
          <p:cNvPr id="24" name="Shape 22"/>
          <p:cNvSpPr/>
          <p:nvPr/>
        </p:nvSpPr>
        <p:spPr>
          <a:xfrm>
            <a:off x="9560966" y="2194560"/>
            <a:ext cx="2051914" cy="2743200"/>
          </a:xfrm>
          <a:prstGeom prst="roundRect">
            <a:avLst>
              <a:gd name="adj" fmla="val 3565"/>
            </a:avLst>
          </a:prstGeom>
          <a:solidFill>
            <a:srgbClr val="1B1A55"/>
          </a:solidFill>
          <a:ln/>
          <a:effectLst>
            <a:outerShdw blurRad="76200" dist="25400" dir="5400000" algn="bl" rotWithShape="0">
              <a:srgbClr val="1B1A55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698126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698126" y="2971800"/>
            <a:ext cx="17775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Continues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698126" y="3611880"/>
            <a:ext cx="177759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repeats until the quiz ends or mastery is reached.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mirrors Item Response Theory-style adaptive testing: each answer narrows the system's estimate of what the learner truly knows.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35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(Simplified)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834640" cy="1673352"/>
          </a:xfrm>
          <a:prstGeom prst="roundRect">
            <a:avLst>
              <a:gd name="adj" fmla="val 4372"/>
            </a:avLst>
          </a:prstGeom>
          <a:solidFill>
            <a:srgbClr val="1B1A55"/>
          </a:solidFill>
          <a:ln/>
          <a:effectLst>
            <a:outerShdw blurRad="63500" dist="25400" dir="5400000" algn="bl" rotWithShape="0">
              <a:srgbClr val="1B1A55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647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30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04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79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53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371600"/>
            <a:ext cx="2834640" cy="1673352"/>
          </a:xfrm>
          <a:prstGeom prst="roundRect">
            <a:avLst>
              <a:gd name="adj" fmla="val 4372"/>
            </a:avLst>
          </a:prstGeom>
          <a:solidFill>
            <a:srgbClr val="535C91"/>
          </a:solidFill>
          <a:ln/>
          <a:effectLst>
            <a:outerShdw blurRad="63500" dist="25400" dir="5400000" algn="bl" rotWithShape="0">
              <a:srgbClr val="1B1A55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3440" y="1444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quiz_id (PK)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created_by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633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21040" y="1691640"/>
            <a:ext cx="2834640" cy="1965960"/>
          </a:xfrm>
          <a:prstGeom prst="roundRect">
            <a:avLst>
              <a:gd name="adj" fmla="val 3721"/>
            </a:avLst>
          </a:prstGeom>
          <a:solidFill>
            <a:srgbClr val="1B1A55"/>
          </a:solidFill>
          <a:ln/>
          <a:effectLst>
            <a:outerShdw blurRad="63500" dist="25400" dir="5400000" algn="bl" rotWithShape="0">
              <a:srgbClr val="1B1A55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503920" y="17647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2130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question_id (PK)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2404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quiz_id (FK)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549640" y="2679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2953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549640" y="3227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(AI/NLP)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3977640"/>
            <a:ext cx="2834640" cy="1965960"/>
          </a:xfrm>
          <a:prstGeom prst="roundRect">
            <a:avLst>
              <a:gd name="adj" fmla="val 3721"/>
            </a:avLst>
          </a:prstGeom>
          <a:solidFill>
            <a:srgbClr val="535C91"/>
          </a:solidFill>
          <a:ln/>
          <a:effectLst>
            <a:outerShdw blurRad="63500" dist="25400" dir="5400000" algn="bl" rotWithShape="0">
              <a:srgbClr val="1B1A55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663440" y="40507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4416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response_id (PK)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709160" y="4690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4965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question_id (FK)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5239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is_correct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709160" y="5513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time_taken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937760"/>
            <a:ext cx="2834640" cy="1673352"/>
          </a:xfrm>
          <a:prstGeom prst="roundRect">
            <a:avLst>
              <a:gd name="adj" fmla="val 4372"/>
            </a:avLst>
          </a:prstGeom>
          <a:solidFill>
            <a:srgbClr val="00C2A8"/>
          </a:solidFill>
          <a:ln/>
          <a:effectLst>
            <a:outerShdw blurRad="63500" dist="25400" dir="5400000" algn="bl" rotWithShape="0">
              <a:srgbClr val="1B1A55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22960" y="50109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5376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record_id (PK)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5650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5925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ability_score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6199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topic_mastery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0" y="1965960"/>
            <a:ext cx="1005840" cy="0"/>
          </a:xfrm>
          <a:prstGeom prst="line">
            <a:avLst/>
          </a:prstGeom>
          <a:noFill/>
          <a:ln w="15875">
            <a:solidFill>
              <a:srgbClr val="7A7A9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7315200" y="2148840"/>
            <a:ext cx="1005840" cy="45720"/>
          </a:xfrm>
          <a:prstGeom prst="line">
            <a:avLst/>
          </a:prstGeom>
          <a:noFill/>
          <a:ln w="15875">
            <a:solidFill>
              <a:srgbClr val="7A7A9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5897880" y="3108960"/>
            <a:ext cx="0" cy="868680"/>
          </a:xfrm>
          <a:prstGeom prst="line">
            <a:avLst/>
          </a:prstGeom>
          <a:noFill/>
          <a:ln w="15875">
            <a:solidFill>
              <a:srgbClr val="7A7A9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2057400" y="2971800"/>
            <a:ext cx="0" cy="1965960"/>
          </a:xfrm>
          <a:prstGeom prst="line">
            <a:avLst/>
          </a:prstGeom>
          <a:noFill/>
          <a:ln w="15875">
            <a:solidFill>
              <a:srgbClr val="7A7A90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3474720" y="4572000"/>
            <a:ext cx="1005840" cy="548640"/>
          </a:xfrm>
          <a:prstGeom prst="line">
            <a:avLst/>
          </a:prstGeom>
          <a:noFill/>
          <a:ln w="15875">
            <a:solidFill>
              <a:srgbClr val="7A7A90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35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76200" dist="25400" dir="5400000" algn="bl" rotWithShape="0">
              <a:srgbClr val="44445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30352" cy="530352"/>
          </a:xfrm>
          <a:prstGeom prst="ellipse">
            <a:avLst/>
          </a:prstGeom>
          <a:solidFill>
            <a:srgbClr val="1B1A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37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8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Question Generation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2608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original quizzes from any topic or content.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76200" dist="25400" dir="5400000" algn="bl" rotWithShape="0">
              <a:srgbClr val="44445A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1856232"/>
            <a:ext cx="530352" cy="530352"/>
          </a:xfrm>
          <a:prstGeom prst="ellipse">
            <a:avLst/>
          </a:prstGeom>
          <a:solidFill>
            <a:srgbClr val="1B1A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81144" y="1837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1508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25146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Difficulty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292608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learner gets a path suited to their level.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76200" dist="25400" dir="5400000" algn="bl" rotWithShape="0">
              <a:srgbClr val="44445A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856232"/>
            <a:ext cx="530352" cy="530352"/>
          </a:xfrm>
          <a:prstGeom prst="ellipse">
            <a:avLst/>
          </a:prstGeom>
          <a:solidFill>
            <a:srgbClr val="1B1A5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7616" y="1837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508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5146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92608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Visual, real-time view of scores and progress.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76200" dist="25400" dir="5400000" algn="bl" rotWithShape="0">
              <a:srgbClr val="44445A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87952"/>
            <a:ext cx="530352" cy="530352"/>
          </a:xfrm>
          <a:prstGeom prst="ellipse">
            <a:avLst/>
          </a:prstGeom>
          <a:solidFill>
            <a:srgbClr val="1B1A5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169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</a:t>
            </a:r>
            <a:endParaRPr lang="en-US" sz="1508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8463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Answer Evaluation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25780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meaning, not just exact wording.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5112" y="393192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76200" dist="25400" dir="5400000" algn="bl" rotWithShape="0">
              <a:srgbClr val="44445A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81144" y="4187952"/>
            <a:ext cx="530352" cy="530352"/>
          </a:xfrm>
          <a:prstGeom prst="ellipse">
            <a:avLst/>
          </a:prstGeom>
          <a:solidFill>
            <a:srgbClr val="1B1A5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81144" y="4169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1508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48463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Multi-Topic Support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525780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across subjects and courses.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1584" y="393192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76200" dist="25400" dir="5400000" algn="bl" rotWithShape="0">
              <a:srgbClr val="44445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7616" y="4187952"/>
            <a:ext cx="530352" cy="530352"/>
          </a:xfrm>
          <a:prstGeom prst="ellipse">
            <a:avLst/>
          </a:prstGeom>
          <a:solidFill>
            <a:srgbClr val="1B1A5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57616" y="4169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8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508" dirty="0"/>
          </a:p>
        </p:txBody>
      </p:sp>
      <p:sp>
        <p:nvSpPr>
          <p:cNvPr id="32" name="Text 30"/>
          <p:cNvSpPr txBox="1"/>
          <p:nvPr/>
        </p:nvSpPr>
        <p:spPr>
          <a:xfrm>
            <a:off x="8357616" y="48463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357616" y="525780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 for students and instructors.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Using Adaptive Software Development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3246120" cy="2834640"/>
          </a:xfrm>
          <a:prstGeom prst="roundRect">
            <a:avLst>
              <a:gd name="adj" fmla="val 3226"/>
            </a:avLst>
          </a:prstGeom>
          <a:solidFill>
            <a:srgbClr val="27266E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42316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2461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70332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project vision and iteration objectives based on known requirements — while accepting they will evolve.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4174236" y="3438144"/>
            <a:ext cx="256032" cy="256032"/>
          </a:xfrm>
          <a:prstGeom prst="triangle">
            <a:avLst/>
          </a:prstGeom>
          <a:solidFill>
            <a:srgbClr val="00C2A8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148840"/>
            <a:ext cx="3246120" cy="2834640"/>
          </a:xfrm>
          <a:prstGeom prst="roundRect">
            <a:avLst>
              <a:gd name="adj" fmla="val 3226"/>
            </a:avLst>
          </a:prstGeom>
          <a:solidFill>
            <a:srgbClr val="27266E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242316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2461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70332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work between frontend, backend, and AI/ML components in short, feature-focused cycles.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7923276" y="3438144"/>
            <a:ext cx="256032" cy="256032"/>
          </a:xfrm>
          <a:prstGeom prst="triangle">
            <a:avLst/>
          </a:prstGeom>
          <a:solidFill>
            <a:srgbClr val="00C2A8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2148840"/>
            <a:ext cx="3246120" cy="2834640"/>
          </a:xfrm>
          <a:prstGeom prst="roundRect">
            <a:avLst>
              <a:gd name="adj" fmla="val 3226"/>
            </a:avLst>
          </a:prstGeom>
          <a:solidFill>
            <a:srgbClr val="27266E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640" y="2423160"/>
            <a:ext cx="640080" cy="6400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49640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32461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549640" y="370332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each cycle's outcome, incorporate feedback, and refine the adaptive model before the next round.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10800000" flipV="1">
            <a:off x="960120" y="5120640"/>
            <a:ext cx="7132320" cy="502920"/>
          </a:xfrm>
          <a:prstGeom prst="bentConnector3">
            <a:avLst/>
          </a:prstGeom>
          <a:noFill/>
          <a:ln w="19050">
            <a:solidFill>
              <a:srgbClr val="535C91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337560" y="5550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35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repeats each iteration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6172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cyclical, feedback-driven process mirrors SmartQuiz's own adaptive engine: both continuously re-evaluate and adjust based on real data.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35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System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63500" dist="25400" dir="5400000" algn="bl" rotWithShape="0">
              <a:srgbClr val="44445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920240"/>
            <a:ext cx="585216" cy="5852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64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542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signs in via the React.js interface.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 rot="5400000">
            <a:off x="2574036" y="2953512"/>
            <a:ext cx="219456" cy="219456"/>
          </a:xfrm>
          <a:prstGeom prst="triangle">
            <a:avLst/>
          </a:prstGeom>
          <a:solidFill>
            <a:srgbClr val="535C91"/>
          </a:solidFill>
          <a:ln/>
        </p:spPr>
      </p:sp>
      <p:sp>
        <p:nvSpPr>
          <p:cNvPr id="10" name="Shape 8"/>
          <p:cNvSpPr/>
          <p:nvPr/>
        </p:nvSpPr>
        <p:spPr>
          <a:xfrm>
            <a:off x="2825496" y="237744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63500" dist="25400" dir="5400000" algn="bl" rotWithShape="0">
              <a:srgbClr val="44445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11296" y="1920240"/>
            <a:ext cx="585216" cy="5852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11296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64" dirty="0"/>
          </a:p>
        </p:txBody>
      </p:sp>
      <p:sp>
        <p:nvSpPr>
          <p:cNvPr id="13" name="Text 11"/>
          <p:cNvSpPr txBox="1"/>
          <p:nvPr/>
        </p:nvSpPr>
        <p:spPr>
          <a:xfrm>
            <a:off x="2935224" y="2542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Topic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935224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a subject or uploads source material.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 rot="5400000">
            <a:off x="4850892" y="2953512"/>
            <a:ext cx="219456" cy="219456"/>
          </a:xfrm>
          <a:prstGeom prst="triangle">
            <a:avLst/>
          </a:prstGeom>
          <a:solidFill>
            <a:srgbClr val="535C91"/>
          </a:solidFill>
          <a:ln/>
        </p:spPr>
      </p:sp>
      <p:sp>
        <p:nvSpPr>
          <p:cNvPr id="16" name="Shape 14"/>
          <p:cNvSpPr/>
          <p:nvPr/>
        </p:nvSpPr>
        <p:spPr>
          <a:xfrm>
            <a:off x="5102352" y="237744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63500" dist="25400" dir="5400000" algn="bl" rotWithShape="0">
              <a:srgbClr val="44445A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88152" y="1920240"/>
            <a:ext cx="585216" cy="5852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788152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64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542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Quiz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+ NLP build the opening question set.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 rot="5400000">
            <a:off x="7127748" y="2953512"/>
            <a:ext cx="219456" cy="219456"/>
          </a:xfrm>
          <a:prstGeom prst="triangle">
            <a:avLst/>
          </a:prstGeom>
          <a:solidFill>
            <a:srgbClr val="535C91"/>
          </a:solidFill>
          <a:ln/>
        </p:spPr>
      </p:sp>
      <p:sp>
        <p:nvSpPr>
          <p:cNvPr id="22" name="Shape 20"/>
          <p:cNvSpPr/>
          <p:nvPr/>
        </p:nvSpPr>
        <p:spPr>
          <a:xfrm>
            <a:off x="7379208" y="237744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63500" dist="25400" dir="5400000" algn="bl" rotWithShape="0">
              <a:srgbClr val="44445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65008" y="1920240"/>
            <a:ext cx="585216" cy="5852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65008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64" dirty="0"/>
          </a:p>
        </p:txBody>
      </p:sp>
      <p:sp>
        <p:nvSpPr>
          <p:cNvPr id="25" name="Text 23"/>
          <p:cNvSpPr txBox="1"/>
          <p:nvPr/>
        </p:nvSpPr>
        <p:spPr>
          <a:xfrm>
            <a:off x="7488936" y="2542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&amp; Adapt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488936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 adjusts difficulty after each response.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rot="5400000">
            <a:off x="9404604" y="2953512"/>
            <a:ext cx="219456" cy="219456"/>
          </a:xfrm>
          <a:prstGeom prst="triangle">
            <a:avLst/>
          </a:prstGeom>
          <a:solidFill>
            <a:srgbClr val="535C91"/>
          </a:solidFill>
          <a:ln/>
        </p:spPr>
      </p:sp>
      <p:sp>
        <p:nvSpPr>
          <p:cNvPr id="28" name="Shape 26"/>
          <p:cNvSpPr/>
          <p:nvPr/>
        </p:nvSpPr>
        <p:spPr>
          <a:xfrm>
            <a:off x="9656064" y="237744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  <a:effectLst>
            <a:outerShdw blurRad="63500" dist="25400" dir="5400000" algn="bl" rotWithShape="0">
              <a:srgbClr val="44445A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41864" y="1920240"/>
            <a:ext cx="585216" cy="5852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341864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64" dirty="0"/>
          </a:p>
        </p:txBody>
      </p:sp>
      <p:sp>
        <p:nvSpPr>
          <p:cNvPr id="31" name="Text 29"/>
          <p:cNvSpPr txBox="1"/>
          <p:nvPr/>
        </p:nvSpPr>
        <p:spPr>
          <a:xfrm>
            <a:off x="9765792" y="2542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765792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score, mastery, and next steps.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35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Benefits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1B1A55"/>
          </a:solidFill>
          <a:ln/>
          <a:effectLst>
            <a:outerShdw blurRad="76200" dist="25400" dir="5400000" algn="bl" rotWithShape="0">
              <a:srgbClr val="1B1A55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engages with questions matched to their current ability instead of a one-size-fits-all set.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535C91"/>
          </a:solidFill>
          <a:ln/>
          <a:effectLst>
            <a:outerShdw blurRad="76200" dist="25400" dir="5400000" algn="bl" rotWithShape="0">
              <a:srgbClr val="1B1A55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8288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Content Creation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3172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rely on Generative AI to draft quizzes in minutes rather than authoring every question by hand.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1B1A55"/>
          </a:solidFill>
          <a:ln/>
          <a:effectLst>
            <a:outerShdw blurRad="76200" dist="25400" dir="5400000" algn="bl" rotWithShape="0">
              <a:srgbClr val="1B1A55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41148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Feedback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61772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NLP-based evaluation and analytics highlight concept-level strengths and gaps, not just a final score.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88620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535C91"/>
          </a:solidFill>
          <a:ln/>
          <a:effectLst>
            <a:outerShdw blurRad="76200" dist="25400" dir="5400000" algn="bl" rotWithShape="0">
              <a:srgbClr val="1B1A55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41148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 Foundation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61772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FastAPI/Flask + MySQL architecture is built to extend across new subjects and larger user bases.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35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0277" y="2103120"/>
            <a:ext cx="548640" cy="548640"/>
          </a:xfrm>
          <a:prstGeom prst="ellipse">
            <a:avLst/>
          </a:prstGeom>
          <a:solidFill>
            <a:srgbClr val="1B1A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00277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17775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Quizzes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11880"/>
            <a:ext cx="17775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spoken questions and answers for accessibility.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01722" y="18288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53358" y="2103120"/>
            <a:ext cx="548640" cy="548640"/>
          </a:xfrm>
          <a:prstGeom prst="ellipse">
            <a:avLst/>
          </a:prstGeom>
          <a:solidFill>
            <a:srgbClr val="1B1A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53358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2" name="Text 10"/>
          <p:cNvSpPr txBox="1"/>
          <p:nvPr/>
        </p:nvSpPr>
        <p:spPr>
          <a:xfrm>
            <a:off x="2938882" y="2880360"/>
            <a:ext cx="17775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938882" y="3611880"/>
            <a:ext cx="17775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streaks, and leaderboards to boost engagement.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54803" y="18288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6440" y="2103120"/>
            <a:ext cx="548640" cy="548640"/>
          </a:xfrm>
          <a:prstGeom prst="ellipse">
            <a:avLst/>
          </a:prstGeom>
          <a:solidFill>
            <a:srgbClr val="1B1A5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0644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7" name="Text 15"/>
          <p:cNvSpPr txBox="1"/>
          <p:nvPr/>
        </p:nvSpPr>
        <p:spPr>
          <a:xfrm>
            <a:off x="5191963" y="2880360"/>
            <a:ext cx="17775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91963" y="3611880"/>
            <a:ext cx="17775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evaluate quizzes across languages via NLP.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07885" y="18288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59522" y="2103120"/>
            <a:ext cx="548640" cy="548640"/>
          </a:xfrm>
          <a:prstGeom prst="ellipse">
            <a:avLst/>
          </a:prstGeom>
          <a:solidFill>
            <a:srgbClr val="1B1A5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59522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2" name="Text 20"/>
          <p:cNvSpPr txBox="1"/>
          <p:nvPr/>
        </p:nvSpPr>
        <p:spPr>
          <a:xfrm>
            <a:off x="7445045" y="2880360"/>
            <a:ext cx="17775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45045" y="3611880"/>
            <a:ext cx="17775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platforms like Moodle or Google Classroom.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560966" y="18288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 w="12700">
            <a:solidFill>
              <a:srgbClr val="ECEB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12603" y="2103120"/>
            <a:ext cx="548640" cy="548640"/>
          </a:xfrm>
          <a:prstGeom prst="ellipse">
            <a:avLst/>
          </a:prstGeom>
          <a:solidFill>
            <a:srgbClr val="1B1A5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312603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60" dirty="0"/>
          </a:p>
        </p:txBody>
      </p:sp>
      <p:sp>
        <p:nvSpPr>
          <p:cNvPr id="27" name="Text 25"/>
          <p:cNvSpPr txBox="1"/>
          <p:nvPr/>
        </p:nvSpPr>
        <p:spPr>
          <a:xfrm>
            <a:off x="9698126" y="2880360"/>
            <a:ext cx="17775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1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698126" y="3611880"/>
            <a:ext cx="17775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companion app for on-the-go practice.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A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535C91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00C2A8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SmartQuiz turns static testing into an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learning conversation.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Generative AI, NLP, and Machine Learning with a modern React.js / FastAPI / MySQL stack, the platform generates questions, evaluates answers, and adjusts difficulty in real time — giving every learner a quiz built for them.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29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1227</Words>
  <Application>Microsoft Office PowerPoint</Application>
  <PresentationFormat>Widescreen</PresentationFormat>
  <Paragraphs>265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Milan Jain</cp:lastModifiedBy>
  <cp:revision>2</cp:revision>
  <dcterms:created xsi:type="dcterms:W3CDTF">2026-09-26T03:04:46Z</dcterms:created>
  <dcterms:modified xsi:type="dcterms:W3CDTF">2026-09-26T04:19:20Z</dcterms:modified>
</cp:coreProperties>
</file>